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진척도</c:v>
                </c:pt>
              </c:strCache>
            </c:strRef>
          </c:tx>
          <c:spPr>
            <a:solidFill>
              <a:srgbClr val="A50034"/>
            </a:solidFill>
          </c:spPr>
          <c:cat>
            <c:strRef>
              <c:f>Sheet1!$A$2:$A$6</c:f>
              <c:strCache>
                <c:ptCount val="5"/>
                <c:pt idx="0">
                  <c:v>설계</c:v>
                </c:pt>
                <c:pt idx="1">
                  <c:v>UI</c:v>
                </c:pt>
                <c:pt idx="2">
                  <c:v>렌더러</c:v>
                </c:pt>
                <c:pt idx="3">
                  <c:v>LLM</c:v>
                </c:pt>
                <c:pt idx="4">
                  <c:v>테스트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90</c:v>
                </c:pt>
                <c:pt idx="3">
                  <c:v>70</c:v>
                </c:pt>
                <c:pt idx="4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77800" cy="16002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57400"/>
            <a:ext cx="658368" cy="1778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84280" y="6080760"/>
            <a:ext cx="804672" cy="1524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73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50034"/>
                </a:solidFill>
                <a:latin typeface="Arial Narrow"/>
              </a:rPr>
              <a:t>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Malgun Gothic"/>
              </a:rPr>
              <a:t>LG 내부 보고 표지 느낌으로 간결하게.
부제에는 조직명과 보고 일자 표시.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3B455A"/>
                </a:solidFill>
                <a:latin typeface="Malgun Gothic"/>
              </a:rPr>
              <a:t>2026년 4월 1주차 (03.30 ~ 04.05) 주간보고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  <a:latin typeface="Malgun Gothic"/>
              </a:rPr>
              <a:t>HS본부 고객가치혁신실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Malgun Gothic"/>
              </a:rPr>
              <a:t>1. 주요 성과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37083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Malgun Gothic"/>
              </a:rPr>
              <a:t>2. 다음 주 핵심 계획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809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Malgun Gothic"/>
              </a:rPr>
              <a:t>3. 리스크 및 요청사항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89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455A"/>
                </a:solidFill>
                <a:latin typeface="Malgun Gothic"/>
              </a:rPr>
              <a:t>PPTAgent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5989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50034"/>
                </a:solidFill>
                <a:latin typeface="Arial Narrow"/>
              </a:rPr>
              <a:t>| CONFIDENTIAL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56692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50034"/>
                </a:solidFill>
                <a:latin typeface="Arial Narrow"/>
              </a:rPr>
              <a:t>Internal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  <a:latin typeface="Malgun Gothic"/>
              </a:rPr>
              <a:t>진행 현황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064240" cy="177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170432"/>
            <a:ext cx="10744200" cy="5102352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80820"/>
            <a:ext cx="88900" cy="889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2C2C"/>
                </a:solidFill>
                <a:latin typeface="Malgun Gothic"/>
              </a:rPr>
              <a:t>MVP 핵심 구조와 UI 구현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39188"/>
            <a:ext cx="88900" cy="889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2C2C"/>
                </a:solidFill>
                <a:latin typeface="Malgun Gothic"/>
              </a:rPr>
              <a:t>브랜드 템플릿 반영으로 내부 공유 가능 수준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97556"/>
            <a:ext cx="88900" cy="88900"/>
          </a:xfrm>
          <a:prstGeom prst="rect">
            <a:avLst/>
          </a:prstGeom>
          <a:solidFill>
            <a:srgbClr val="3B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3405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Malgun Gothic"/>
              </a:rPr>
              <a:t>OpenAI 연동 테스트 및 베타 준비 진행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623560"/>
            <a:ext cx="10058400" cy="384048"/>
          </a:xfrm>
          <a:prstGeom prst="roundRect">
            <a:avLst/>
          </a:prstGeom>
          <a:solidFill>
            <a:srgbClr val="F3F3F3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69280"/>
            <a:ext cx="9692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Malgun Gothic"/>
              </a:rPr>
              <a:t>처음 1~2장 안에서 의사결정에 필요한 맥락이 보이도록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73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Use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91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C2C2C"/>
                </a:solidFill>
                <a:latin typeface="Arial Narrow"/>
              </a:rPr>
              <a:t>Internal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Company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  <a:latin typeface="Malgun Gothic"/>
              </a:rPr>
              <a:t>완료 업무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064240" cy="177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115568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508760"/>
          <a:ext cx="10012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577840"/>
                <a:gridCol w="2606040"/>
              </a:tblGrid>
              <a:tr h="106299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주요 내용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성과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106299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PPTAgent MVP 개발 착수 및 기본 구조 설계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MVP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299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· Streamlit 기반 4단계 위자드 UI 구현 (템플릿 선택 → 내용 입력 → 구조 확인 → 다운로드)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사용 흐름 확보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1062990">
                <a:tc>
                  <a:txBody>
                    <a:bodyPr anchor="ctr"/>
                    <a:lstStyle/>
                    <a:p>
                      <a:pPr algn="ctr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성능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· SlideSchema Pydantic 모델 정의 및 검증 로직 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</a:rPr>
                        <a:t>응답 속도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49840" y="1508760"/>
            <a:ext cx="1508760" cy="4251960"/>
          </a:xfrm>
          <a:prstGeom prst="roundRect">
            <a:avLst/>
          </a:prstGeom>
          <a:solidFill>
            <a:srgbClr val="F3F3F3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59568" y="17190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50034"/>
                </a:solidFill>
                <a:latin typeface="Malgun Gothic"/>
              </a:rPr>
              <a:t>메모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59568" y="2057400"/>
            <a:ext cx="1188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Malgun Gothic"/>
              </a:rPr>
              <a:t>세부 완료 내역은 유첨으로 확장 가능합니다.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73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91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C2C2C"/>
                </a:solidFill>
                <a:latin typeface="Arial Narrow"/>
              </a:rPr>
              <a:t>Internal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Company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  <a:latin typeface="Malgun Gothic"/>
              </a:rPr>
              <a:t>다음 계획 및 리스크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064240" cy="177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1280160"/>
            <a:ext cx="5120640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344" y="1280160"/>
            <a:ext cx="5120640" cy="4736592"/>
          </a:xfrm>
          <a:prstGeom prst="roundRect">
            <a:avLst/>
          </a:prstGeom>
          <a:solidFill>
            <a:srgbClr val="F3F3F3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5532120" y="2971800"/>
            <a:ext cx="384048" cy="713232"/>
          </a:xfrm>
          <a:prstGeom prst="chevron">
            <a:avLst/>
          </a:prstGeom>
          <a:solidFill>
            <a:srgbClr val="E9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A50034"/>
                </a:solidFill>
                <a:latin typeface="Malgun Gothic"/>
              </a:rPr>
              <a:t>다음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A50034"/>
                </a:solidFill>
                <a:latin typeface="Malgun Gothic"/>
              </a:rPr>
              <a:t>이슈 / 리스크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PPTAgent 기능 고도화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슬라이드 미리보기 품질 개선 (와이어프레임 → 실제 레이아웃 반영)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552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팀 동료 대상 내부 베타 테스트 1회 진행 및 피드백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현재 OpenAI API 크레딧 미확보로 실제 LLM 연동 테스트 지연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988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대응: 소액 크레딧($10) 구매 후 파일럿 테스트 진행 예정 (4월 2주차)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실제 LLM 연동 테스트 (OpenAI API 크레딧 확보 후 진행)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334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차트/표 슬라이드 실제 데이터 렌더링 구현 (Phase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552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API 비용 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8770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· Mock 모드로 UI/렌더링 검증은 가능하나 슬라이드 내용 품질 검증은 제한적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988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Malgun Gothic"/>
              </a:rPr>
              <a:t>• 사내 외부 사이트 접근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600"/>
                </a:solidFill>
                <a:latin typeface="Malgun Gothic"/>
              </a:rPr>
              <a:t>좌측은 실행 계획, 우측은 의사결정 또는 지원이 필요한 항목 중심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73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91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C2C2C"/>
                </a:solidFill>
                <a:latin typeface="Arial Narrow"/>
              </a:rPr>
              <a:t>Internal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Company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  <a:latin typeface="Malgun Gothic"/>
              </a:rPr>
              <a:t>주요 진척도 추이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064240" cy="177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115568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508760"/>
          <a:ext cx="6446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508760"/>
            <a:ext cx="3246120" cy="4160520"/>
          </a:xfrm>
          <a:prstGeom prst="roundRect">
            <a:avLst/>
          </a:prstGeom>
          <a:solidFill>
            <a:srgbClr val="F3F3F3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50034"/>
                </a:solidFill>
                <a:latin typeface="Malgun Gothic"/>
              </a:rPr>
              <a:t>해석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05740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Malgun Gothic"/>
              </a:rPr>
              <a:t>• 개발 진척 80% 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56032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Malgun Gothic"/>
              </a:rPr>
              <a:t>• UI/렌더러는 완료, LLM 품질 고도화 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30632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Malgun Gothic"/>
              </a:rPr>
              <a:t>• 베타 준비 항목은 이번 주 착수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49834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Malgun Gothic"/>
              </a:rPr>
              <a:t>상대적으로 부족한 영역이 테스트와 운영 검증 단계라는 점이 보이게 해주세요.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73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91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C2C2C"/>
                </a:solidFill>
                <a:latin typeface="Arial Narrow"/>
              </a:rPr>
              <a:t>Internal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Company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  <a:latin typeface="Malgun Gothic"/>
              </a:rPr>
              <a:t>결론 및 요청사항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064240" cy="177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170432"/>
            <a:ext cx="10744200" cy="5102352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80820"/>
            <a:ext cx="88900" cy="889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2C2C"/>
                </a:solidFill>
                <a:latin typeface="Malgun Gothic"/>
              </a:rPr>
              <a:t>이번 주 내 OpenAI 기반 기획 품질 검증 완료 예정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39188"/>
            <a:ext cx="88900" cy="889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2C2C"/>
                </a:solidFill>
                <a:latin typeface="Malgun Gothic"/>
              </a:rPr>
              <a:t>내부 시범 사용자 3~5명 대상 피드백 확보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97556"/>
            <a:ext cx="88900" cy="88900"/>
          </a:xfrm>
          <a:prstGeom prst="rect">
            <a:avLst/>
          </a:prstGeom>
          <a:solidFill>
            <a:srgbClr val="3B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3405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Malgun Gothic"/>
              </a:rPr>
              <a:t>템플릿 세부 규칙 샘플 5종 추가 확보 요청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623560"/>
            <a:ext cx="10058400" cy="384048"/>
          </a:xfrm>
          <a:prstGeom prst="roundRect">
            <a:avLst/>
          </a:prstGeom>
          <a:solidFill>
            <a:srgbClr val="F3F3F3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69280"/>
            <a:ext cx="9692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Malgun Gothic"/>
              </a:rPr>
              <a:t>상세 근거와 화면 캡처는 별도 유첨 슬라이드에 배치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73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Use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91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C2C2C"/>
                </a:solidFill>
                <a:latin typeface="Arial Narrow"/>
              </a:rPr>
              <a:t>Internal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Arial Narrow"/>
              </a:rPr>
              <a:t>Internal Company |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